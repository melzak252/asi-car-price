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Ogłoszenia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Volkswagen</c:v>
                </c:pt>
                <c:pt idx="1">
                  <c:v>BMW</c:v>
                </c:pt>
                <c:pt idx="2">
                  <c:v>Audi</c:v>
                </c:pt>
                <c:pt idx="3">
                  <c:v>Opel</c:v>
                </c:pt>
                <c:pt idx="4">
                  <c:v>Ford</c:v>
                </c:pt>
                <c:pt idx="5">
                  <c:v>Mercedes</c:v>
                </c:pt>
                <c:pt idx="6">
                  <c:v>Renault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18455</c:v>
                </c:pt>
                <c:pt idx="1">
                  <c:v>16983</c:v>
                </c:pt>
                <c:pt idx="2">
                  <c:v>16730</c:v>
                </c:pt>
                <c:pt idx="3">
                  <c:v>16322</c:v>
                </c:pt>
                <c:pt idx="4">
                  <c:v>16007</c:v>
                </c:pt>
                <c:pt idx="5">
                  <c:v>12170</c:v>
                </c:pt>
                <c:pt idx="6">
                  <c:v>10702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EB-4999-BE22-722F0648D6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R2_log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AutoGluon</c:v>
                </c:pt>
                <c:pt idx="1">
                  <c:v>LightGBM strojony</c:v>
                </c:pt>
                <c:pt idx="2">
                  <c:v>LightGBM domyślny</c:v>
                </c:pt>
                <c:pt idx="3">
                  <c:v>HistGBR</c:v>
                </c:pt>
                <c:pt idx="4">
                  <c:v>Ridge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0.95599999999999996</c:v>
                </c:pt>
                <c:pt idx="1">
                  <c:v>0.95299999999999996</c:v>
                </c:pt>
                <c:pt idx="2">
                  <c:v>0.95</c:v>
                </c:pt>
                <c:pt idx="3">
                  <c:v>0.94099999999999995</c:v>
                </c:pt>
                <c:pt idx="4">
                  <c:v>0.81100000000000005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3C-4CAD-951D-1788F06F04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8"/>
          <c:min val="0.7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475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455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PROJEKT ASI - MACHINE LEARNING &amp; MLOps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Predykcja ceny samochodu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Od notatnika z modelem bazowym do produkcyjnego pipeline'u ML z trackingiem, AutoML i API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208 304 ogłoszeń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4680" y="370332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3703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regresja ceny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49240" y="3703320"/>
            <a:ext cx="2103120" cy="384048"/>
          </a:xfrm>
          <a:prstGeom prst="roundRect">
            <a:avLst>
              <a:gd name="adj" fmla="val 47619"/>
            </a:avLst>
          </a:prstGeom>
          <a:solidFill>
            <a:srgbClr val="02B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3703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</a:t>
            </a:r>
            <a:r>
              <a:rPr lang="pl-PL" b="1" baseline="30000" dirty="0">
                <a:solidFill>
                  <a:schemeClr val="bg1"/>
                </a:solidFill>
              </a:rPr>
              <a:t>2</a:t>
            </a:r>
            <a:r>
              <a:rPr lang="en-US" sz="125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= 0,9</a:t>
            </a:r>
            <a:r>
              <a:rPr lang="pl-PL" sz="12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Autorzy:  </a:t>
            </a:r>
            <a:r>
              <a:rPr lang="en-US" sz="17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Jakub Melzacki (s27664)</a:t>
            </a:r>
            <a:r>
              <a:rPr lang="pl-PL" sz="17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7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Kacper Barański (s28166)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Kedro</a:t>
            </a:r>
            <a:r>
              <a:rPr lang="en-US" sz="1300" dirty="0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dirty="0" err="1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MLflow</a:t>
            </a:r>
            <a:r>
              <a:rPr lang="en-US" sz="1300" dirty="0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dirty="0" err="1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Optuna</a:t>
            </a:r>
            <a:r>
              <a:rPr lang="en-US" sz="1300" dirty="0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dirty="0" err="1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AutoGluon</a:t>
            </a:r>
            <a:r>
              <a:rPr lang="en-US" sz="1300" dirty="0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dirty="0" err="1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300" dirty="0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00" dirty="0" err="1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300" dirty="0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 - Docker - DVC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PROBLEM BIZNESOWY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Ile jest wart ten samochód?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Portale z ogłoszeniami i komisy potrzebują </a:t>
            </a:r>
            <a:r>
              <a:rPr lang="en-US" sz="170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szybkiej, obiektywnej wyceny</a:t>
            </a:r>
            <a:r>
              <a:rPr lang="en-US" sz="17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auta na podstawie jego parametrów. Ręczna wycena jest wolna i niespójna.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Typ zadania:  </a:t>
            </a:r>
            <a:r>
              <a:rPr lang="en-US" sz="15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regresja (uczenie nadzorowane)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Cel modelu:  </a:t>
            </a:r>
            <a:r>
              <a:rPr lang="en-US" sz="15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Log_Price</a:t>
            </a:r>
            <a:r>
              <a:rPr lang="en-US" sz="15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– logarytm ceny w PLN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Dlaczego log:  </a:t>
            </a:r>
            <a:r>
              <a:rPr lang="en-US" sz="15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ceny są mocno prawoskośne; log stabilizuje rozkład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737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20840" y="1901952"/>
            <a:ext cx="224028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ea typeface="Cambria" pitchFamily="34" charset="-122"/>
                <a:cs typeface="Cambria" pitchFamily="34" charset="-120"/>
              </a:rPr>
              <a:t>208 304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720840" y="2701138"/>
            <a:ext cx="224028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ogłoszeń w zbiorze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81160" y="173736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0" y="1901952"/>
            <a:ext cx="196596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418320" y="2701138"/>
            <a:ext cx="19659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cech opisowych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34747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20840" y="3639312"/>
            <a:ext cx="224028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930C"/>
                </a:solidFill>
                <a:ea typeface="Cambria" pitchFamily="34" charset="-122"/>
                <a:cs typeface="Cambria" pitchFamily="34" charset="-120"/>
              </a:rPr>
              <a:t>35 700 zł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20840" y="4438498"/>
            <a:ext cx="224028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mediana ceny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35440" y="347472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0" y="3639312"/>
            <a:ext cx="196596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pl-PL" sz="3000" b="1" dirty="0">
                <a:solidFill>
                  <a:srgbClr val="02B39A"/>
                </a:solidFill>
                <a:ea typeface="Cambria" pitchFamily="34" charset="-122"/>
                <a:cs typeface="Cambria" pitchFamily="34" charset="-120"/>
              </a:rPr>
              <a:t>~</a:t>
            </a:r>
            <a:r>
              <a:rPr lang="en-US" sz="3000" b="1" dirty="0">
                <a:solidFill>
                  <a:srgbClr val="02B39A"/>
                </a:solidFill>
                <a:ea typeface="Cambria" pitchFamily="34" charset="-122"/>
                <a:cs typeface="Cambria" pitchFamily="34" charset="-120"/>
              </a:rPr>
              <a:t>0,9</a:t>
            </a:r>
            <a:r>
              <a:rPr lang="pl-PL" sz="3000" b="1" dirty="0">
                <a:solidFill>
                  <a:srgbClr val="02B39A"/>
                </a:solidFill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418320" y="4438498"/>
            <a:ext cx="196596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docelowe R²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Dane: ogłoszenia sprzedaży aut (Otomoto), zbiór publiczny z Kaggle.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DANE I EKSPLORACJA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Co siedzi w danych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Najpopularniejsze marki (liczba ogłoszeń)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2490181"/>
              </p:ext>
            </p:extLst>
          </p:nvPr>
        </p:nvGraphicFramePr>
        <p:xfrm>
          <a:off x="548640" y="196596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Braki danych w wybranych kolumnach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139727"/>
              </p:ext>
            </p:extLst>
          </p:nvPr>
        </p:nvGraphicFramePr>
        <p:xfrm>
          <a:off x="6858000" y="2011680"/>
          <a:ext cx="4663440" cy="2743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First_registration_date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CO2_emissions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Origin_country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Cechy numeryczne kluczowe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858000" y="50292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Wnioski: 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ceny prawoskośne (od 500 zł do ~7 mln) </a:t>
            </a:r>
            <a:r>
              <a:rPr lang="pl-PL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logarytmujemy; część kolumn ma duże </a:t>
            </a:r>
            <a:r>
              <a:rPr lang="en-US" sz="13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braki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wymagają imputacji lub odrzucenia.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640080" y="1737360"/>
            <a:ext cx="6766560" cy="1216152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ARCHITEKTURA ROZWIĄZANIA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Trzy potoki Kedro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120390"/>
            <a:ext cx="6766560" cy="121158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6654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772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9400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1 - data_processing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3606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Czyszczenie danych, inżynieria cech, podział train/test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2953512"/>
            <a:ext cx="0" cy="16687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4498848"/>
            <a:ext cx="6766560" cy="1216152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34015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2918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2 - data_science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71246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Trening modelu LightGBM i ewaluacja na zbiorze testowym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3000" y="4331970"/>
            <a:ext cx="0" cy="16687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02B39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8680" y="4837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4678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3 - model_optimization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509930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Selekcja cech, Optuna, AutoGluon, porównanie modeli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1737360"/>
            <a:ext cx="3749040" cy="3977640"/>
          </a:xfrm>
          <a:prstGeom prst="roundRect">
            <a:avLst>
              <a:gd name="adj" fmla="val 1951"/>
            </a:avLst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010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Warstwy techniczne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01000" y="237744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Konfiguracja: 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Kedro catalog + parameters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Tracking: 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MLflow (baza SQLite)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Wersjonowanie: 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Git + DVC (dane i modele)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Serwowanie: 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FastAPI + Docker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CI: 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GitHub Actions (testy)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POTOK 1 – PRZYGOTOWANIE DANYCH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Z surowych ogłoszeń do macierzy cech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Czyszczenie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logarytm ceny, usunięcie outlierów (IQR), ofert w EUR, błędnej liczby drzwi</a:t>
            </a:r>
            <a:endParaRPr lang="en-US" sz="12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34F9477-10EF-7251-9906-E1F07664328B}"/>
              </a:ext>
            </a:extLst>
          </p:cNvPr>
          <p:cNvGrpSpPr/>
          <p:nvPr/>
        </p:nvGrpSpPr>
        <p:grpSpPr>
          <a:xfrm>
            <a:off x="3429000" y="1783080"/>
            <a:ext cx="2697480" cy="2286000"/>
            <a:chOff x="3429000" y="1783080"/>
            <a:chExt cx="2697480" cy="2286000"/>
          </a:xfrm>
        </p:grpSpPr>
        <p:sp>
          <p:nvSpPr>
            <p:cNvPr id="9" name="Shape 7"/>
            <p:cNvSpPr/>
            <p:nvPr/>
          </p:nvSpPr>
          <p:spPr>
            <a:xfrm>
              <a:off x="3429000" y="1783080"/>
              <a:ext cx="2697480" cy="22860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/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3657600" y="2011680"/>
              <a:ext cx="502920" cy="50292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657600" y="201168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ea typeface="Cambria" pitchFamily="34" charset="-122"/>
                  <a:cs typeface="Cambria" pitchFamily="34" charset="-120"/>
                </a:rPr>
                <a:t>2</a:t>
              </a:r>
              <a:endParaRPr lang="en-US" sz="1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657600" y="2697480"/>
              <a:ext cx="2240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43A"/>
                  </a:solidFill>
                  <a:ea typeface="Calibri" pitchFamily="34" charset="-122"/>
                  <a:cs typeface="Calibri" pitchFamily="34" charset="-120"/>
                </a:rPr>
                <a:t>Nowe cechy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657600" y="2994660"/>
              <a:ext cx="228600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200" dirty="0">
                  <a:solidFill>
                    <a:srgbClr val="64748B"/>
                  </a:solidFill>
                  <a:ea typeface="Calibri" pitchFamily="34" charset="-122"/>
                  <a:cs typeface="Calibri" pitchFamily="34" charset="-120"/>
                </a:rPr>
                <a:t>Brand_Model (marka+model), lista wyposażenia z kolumny Features</a:t>
              </a:r>
              <a:endParaRPr lang="en-US" sz="12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621792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Kodowanie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target encoding marki/modelu (liczony tylko na train – bez wycieku), one-hot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544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354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Skalowanie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29946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standaryzacja cech numerycznych, binaryzacja listy wyposażenia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06EF780-9CBA-A066-88B4-1AF8956EAF70}"/>
              </a:ext>
            </a:extLst>
          </p:cNvPr>
          <p:cNvGrpSpPr/>
          <p:nvPr/>
        </p:nvGrpSpPr>
        <p:grpSpPr>
          <a:xfrm>
            <a:off x="777240" y="4690872"/>
            <a:ext cx="3200400" cy="1124712"/>
            <a:chOff x="777240" y="4690872"/>
            <a:chExt cx="3200400" cy="1124712"/>
          </a:xfrm>
        </p:grpSpPr>
        <p:sp>
          <p:nvSpPr>
            <p:cNvPr id="25" name="Text 23"/>
            <p:cNvSpPr/>
            <p:nvPr/>
          </p:nvSpPr>
          <p:spPr>
            <a:xfrm>
              <a:off x="777240" y="4690872"/>
              <a:ext cx="32004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1C7293"/>
                  </a:solidFill>
                  <a:ea typeface="Cambria" pitchFamily="34" charset="-122"/>
                  <a:cs typeface="Cambria" pitchFamily="34" charset="-120"/>
                </a:rPr>
                <a:t>206 825</a:t>
              </a:r>
              <a:endParaRPr lang="en-US" sz="3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77240" y="5376672"/>
              <a:ext cx="32004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4748B"/>
                  </a:solidFill>
                  <a:ea typeface="Calibri" pitchFamily="34" charset="-122"/>
                  <a:cs typeface="Calibri" pitchFamily="34" charset="-120"/>
                </a:rPr>
                <a:t>rekordów po czyszczeniu (z 208 304)</a:t>
              </a:r>
              <a:endParaRPr lang="en-US" sz="125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095FF6-838A-5302-C0DD-03DF604F42AE}"/>
              </a:ext>
            </a:extLst>
          </p:cNvPr>
          <p:cNvGrpSpPr/>
          <p:nvPr/>
        </p:nvGrpSpPr>
        <p:grpSpPr>
          <a:xfrm>
            <a:off x="4480560" y="4526280"/>
            <a:ext cx="3383280" cy="1371600"/>
            <a:chOff x="4343400" y="4526280"/>
            <a:chExt cx="3383280" cy="1371600"/>
          </a:xfrm>
        </p:grpSpPr>
        <p:sp>
          <p:nvSpPr>
            <p:cNvPr id="27" name="Shape 25"/>
            <p:cNvSpPr/>
            <p:nvPr/>
          </p:nvSpPr>
          <p:spPr>
            <a:xfrm>
              <a:off x="4343400" y="4526280"/>
              <a:ext cx="3383280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/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4480560" y="4690872"/>
              <a:ext cx="310896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1C7293"/>
                  </a:solidFill>
                  <a:ea typeface="Cambria" pitchFamily="34" charset="-122"/>
                  <a:cs typeface="Cambria" pitchFamily="34" charset="-120"/>
                </a:rPr>
                <a:t>109</a:t>
              </a:r>
              <a:endParaRPr lang="en-US" sz="3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480560" y="5376672"/>
              <a:ext cx="31089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4748B"/>
                  </a:solidFill>
                  <a:ea typeface="Calibri" pitchFamily="34" charset="-122"/>
                  <a:cs typeface="Calibri" pitchFamily="34" charset="-120"/>
                </a:rPr>
                <a:t>cech wejściowych dla modelu</a:t>
              </a:r>
              <a:endParaRPr lang="en-US" sz="125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2BD6F82-4F1F-2257-94E4-485E39DB7061}"/>
              </a:ext>
            </a:extLst>
          </p:cNvPr>
          <p:cNvGrpSpPr/>
          <p:nvPr/>
        </p:nvGrpSpPr>
        <p:grpSpPr>
          <a:xfrm>
            <a:off x="8229600" y="4526280"/>
            <a:ext cx="3474720" cy="1371600"/>
            <a:chOff x="7772400" y="4526280"/>
            <a:chExt cx="3749040" cy="1371600"/>
          </a:xfrm>
        </p:grpSpPr>
        <p:sp>
          <p:nvSpPr>
            <p:cNvPr id="30" name="Shape 28"/>
            <p:cNvSpPr/>
            <p:nvPr/>
          </p:nvSpPr>
          <p:spPr>
            <a:xfrm>
              <a:off x="7772400" y="4526280"/>
              <a:ext cx="3749040" cy="13716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/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7909560" y="4690872"/>
              <a:ext cx="347472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E8930C"/>
                  </a:solidFill>
                  <a:ea typeface="Cambria" pitchFamily="34" charset="-122"/>
                  <a:cs typeface="Cambria" pitchFamily="34" charset="-120"/>
                </a:rPr>
                <a:t>165 460 / 41 365</a:t>
              </a:r>
              <a:endParaRPr lang="en-US" sz="3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909560" y="5376672"/>
              <a:ext cx="34747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64748B"/>
                  </a:solidFill>
                  <a:ea typeface="Calibri" pitchFamily="34" charset="-122"/>
                  <a:cs typeface="Calibri" pitchFamily="34" charset="-120"/>
                </a:rPr>
                <a:t>podział train / test (80/20)</a:t>
              </a:r>
              <a:endParaRPr lang="en-US" sz="12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POTOK 3 – UDOSKONALANIE MODELU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Cztery techniki w jednym potoku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8680" y="20756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 anchor="ctr" anchorCtr="0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Selekcja cech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2951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109 </a:t>
            </a:r>
            <a:r>
              <a:rPr lang="pl-PL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 50 najważniejszych cech wg ważności LightGBM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299923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Strojenie (Optuna)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3741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30 prób optymalizacji bayesowskiej (sampler TPE)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4233672"/>
            <a:ext cx="384048" cy="384048"/>
          </a:xfrm>
          <a:prstGeom prst="ellipse">
            <a:avLst/>
          </a:prstGeom>
          <a:solidFill>
            <a:srgbClr val="02B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AutoML (AutoGluon)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4531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automatyczny trening i zespół modeli, budżet 300 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53126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7320" y="515721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Porównanie modeli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532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Ridge, HistGBR, LightGBM (×2), </a:t>
            </a:r>
            <a:r>
              <a:rPr lang="en-US" sz="1250" dirty="0" err="1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AutoGluon</a:t>
            </a: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 – wspólna tabela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63840" y="1783080"/>
            <a:ext cx="3657600" cy="4197096"/>
          </a:xfrm>
          <a:prstGeom prst="roundRect">
            <a:avLst>
              <a:gd name="adj" fmla="val 2000"/>
            </a:avLst>
          </a:prstGeom>
          <a:solidFill>
            <a:srgbClr val="1624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9244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Wszystko śledzone w MLflow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92440" y="274320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Każdy trenowany model = osobny przebieg (run) z zapisanymi: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• parametrami</a:t>
            </a:r>
            <a:endParaRPr lang="en-US" sz="1350" dirty="0"/>
          </a:p>
          <a:p>
            <a:pPr>
              <a:lnSpc>
                <a:spcPct val="135000"/>
              </a:lnSpc>
            </a:pP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50" dirty="0" err="1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metrykami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 (</a:t>
            </a:r>
            <a:r>
              <a:rPr lang="pl-PL" sz="13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</a:t>
            </a:r>
            <a:r>
              <a:rPr lang="pl-PL" baseline="30000" dirty="0">
                <a:solidFill>
                  <a:schemeClr val="bg1"/>
                </a:solidFill>
              </a:rPr>
              <a:t>2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, MAE, RMSE)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• artefaktem modelu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14 przebiegów w eksperymencie „car_price”.</a:t>
            </a:r>
            <a:endParaRPr lang="en-US" sz="135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1833692C-F893-D981-1130-68037E1195BE}"/>
              </a:ext>
            </a:extLst>
          </p:cNvPr>
          <p:cNvSpPr/>
          <p:nvPr/>
        </p:nvSpPr>
        <p:spPr>
          <a:xfrm>
            <a:off x="80924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D1D04E22-0492-8380-EA7E-414F2C08E760}"/>
              </a:ext>
            </a:extLst>
          </p:cNvPr>
          <p:cNvSpPr/>
          <p:nvPr/>
        </p:nvSpPr>
        <p:spPr>
          <a:xfrm>
            <a:off x="809244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F0EDFEB-93F8-5A56-A391-1FD65D20CEB6}"/>
              </a:ext>
            </a:extLst>
          </p:cNvPr>
          <p:cNvSpPr/>
          <p:nvPr/>
        </p:nvSpPr>
        <p:spPr>
          <a:xfrm>
            <a:off x="809244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23BEC776-3805-E818-89E6-6A4261BDF926}"/>
              </a:ext>
            </a:extLst>
          </p:cNvPr>
          <p:cNvSpPr/>
          <p:nvPr/>
        </p:nvSpPr>
        <p:spPr>
          <a:xfrm>
            <a:off x="809244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WYNIKI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Porównanie modeli na zbiorze testowym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Jakość dopasowania (R² na skali log – wyżej = lepiej)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7680590"/>
              </p:ext>
            </p:extLst>
          </p:nvPr>
        </p:nvGraphicFramePr>
        <p:xfrm>
          <a:off x="548640" y="1965960"/>
          <a:ext cx="6400800" cy="4112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132753"/>
              </p:ext>
            </p:extLst>
          </p:nvPr>
        </p:nvGraphicFramePr>
        <p:xfrm>
          <a:off x="7223760" y="2286000"/>
          <a:ext cx="4297680" cy="285292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Śr. błąd (PLN)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45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AutoGluon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45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45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6 940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strojony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7 342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domyślny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7 991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HistGBR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9 351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16 792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223760" y="52573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AutoGluon (zespół modeli) wygrywa, ale strojony LightGBM jest tuż za nim </a:t>
            </a:r>
            <a:r>
              <a:rPr lang="en-US" sz="130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i jest lekki do </a:t>
            </a:r>
            <a:r>
              <a:rPr lang="en-US" sz="1300" b="1" dirty="0" err="1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wdrożenia</a:t>
            </a:r>
            <a:r>
              <a:rPr lang="en-US" sz="13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– to on trafia do API.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POTOK PRODUKCYJNY (PUNKT 5)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Model jako usługa REST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019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57A"/>
                </a:solidFill>
                <a:ea typeface="Consolas" pitchFamily="34" charset="-122"/>
                <a:cs typeface="Consolas" pitchFamily="34" charset="-120"/>
              </a:rPr>
              <a:t>POST /predict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901952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zwraca przewidywaną cenę w PLN dla podanych parametrów auta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57A"/>
                </a:solidFill>
                <a:ea typeface="Consolas" pitchFamily="34" charset="-122"/>
                <a:cs typeface="Consolas" pitchFamily="34" charset="-120"/>
              </a:rPr>
              <a:t>GET /health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926080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status usługi i informacja, czy model jest załadowany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26764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8680" y="39502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57A"/>
                </a:solidFill>
                <a:ea typeface="Consolas" pitchFamily="34" charset="-122"/>
                <a:cs typeface="Consolas" pitchFamily="34" charset="-120"/>
              </a:rPr>
              <a:t>GET /drift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950208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wykrywanie dryfu danych względem zbioru treningowego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55464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9743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57A"/>
                </a:solidFill>
                <a:ea typeface="Consolas" pitchFamily="34" charset="-122"/>
                <a:cs typeface="Consolas" pitchFamily="34" charset="-120"/>
              </a:rPr>
              <a:t>GET /predictions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4974336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ostatnie zalogowane predykcje (monitoring)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1783080"/>
            <a:ext cx="3931920" cy="3986784"/>
          </a:xfrm>
          <a:prstGeom prst="roundRect">
            <a:avLst>
              <a:gd name="adj" fmla="val 1860"/>
            </a:avLst>
          </a:prstGeom>
          <a:solidFill>
            <a:srgbClr val="1624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Wdrożenie i monitoring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18120" y="246888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b="1" dirty="0" err="1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35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– serwer predykcji (Uvicorn)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Docker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– obraz: pipeline + API w jednym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b="1" dirty="0" err="1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Logowanie</a:t>
            </a:r>
            <a:r>
              <a:rPr lang="en-US" sz="135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– każda predykcja zapisywana do CSV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Dryf </a:t>
            </a:r>
            <a:r>
              <a:rPr lang="en-US" sz="1350" b="1" dirty="0" err="1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danych</a:t>
            </a:r>
            <a:r>
              <a:rPr lang="en-US" sz="135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– porównanie rozkładów cech (test 3σ)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MLOPS I JAKOŚĆ (PUNKTY 6–7)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43A"/>
                </a:solidFill>
                <a:ea typeface="Cambria" pitchFamily="34" charset="-122"/>
                <a:cs typeface="Cambria" pitchFamily="34" charset="-120"/>
              </a:rPr>
              <a:t>Powtarzalność i dyscyplina inżynierska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Wersjonowanie i automatyzacja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DVC 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– wersjonowanie danych i modeli obok Gita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GitHub Actions 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– CI: testy przy każdym push / PR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b="1" dirty="0" err="1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Konfiguracja</a:t>
            </a:r>
            <a:r>
              <a:rPr lang="en-US" sz="135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– parametry poza kodem (Kedro)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A"/>
                </a:solidFill>
                <a:ea typeface="Calibri" pitchFamily="34" charset="-122"/>
                <a:cs typeface="Calibri" pitchFamily="34" charset="-120"/>
              </a:rPr>
              <a:t>Dokumentacja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README 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– opis, uruchomienie, wyniki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Dokumentacja </a:t>
            </a:r>
            <a:r>
              <a:rPr lang="en-US" sz="1350" b="1" dirty="0" err="1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architektoniczna</a:t>
            </a:r>
            <a:r>
              <a:rPr lang="en-US" sz="135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– „dla laika”, krok po kroku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b="1" dirty="0" err="1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Docstringi</a:t>
            </a:r>
            <a:r>
              <a:rPr lang="en-US" sz="1350" b="1" dirty="0">
                <a:solidFill>
                  <a:srgbClr val="1C7293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– w modułach src/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947672"/>
            <a:ext cx="224028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B39A"/>
                </a:solidFill>
                <a:ea typeface="Cambria" pitchFamily="34" charset="-122"/>
                <a:cs typeface="Cambria" pitchFamily="34" charset="-120"/>
              </a:rPr>
              <a:t>8,1 / 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46520" y="3001975"/>
            <a:ext cx="224028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ocena pylint (moduły src/)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0" y="1947672"/>
            <a:ext cx="224028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0" y="3001975"/>
            <a:ext cx="224028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testów jednostkowych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931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624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Czysta struktura kodu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448056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2E9F2"/>
                </a:solidFill>
                <a:ea typeface="Calibri" pitchFamily="34" charset="-122"/>
                <a:cs typeface="Calibri" pitchFamily="34" charset="-120"/>
              </a:rPr>
              <a:t>Logika w czystych, testowalnych funkcjach (src/), a węzły Kedro tylko je orkiestrują. </a:t>
            </a:r>
            <a:r>
              <a:rPr lang="en-US" sz="1350" b="1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Ta sama funkcja działa w pipeline, w testach i w API.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029200" cy="502920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2B39A"/>
                </a:solidFill>
                <a:ea typeface="Calibri" pitchFamily="34" charset="-122"/>
                <a:cs typeface="Calibri" pitchFamily="34" charset="-120"/>
              </a:rPr>
              <a:t>PODSUMOWANIE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ea typeface="Cambria" pitchFamily="34" charset="-122"/>
                <a:cs typeface="Arial" panose="020B0604020202020204" pitchFamily="34" charset="0"/>
              </a:rPr>
              <a:t>Kompletny pipeline ML – od danych do działającego API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09921" y="29032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600" b="1" dirty="0">
                <a:solidFill>
                  <a:srgbClr val="02B39A"/>
                </a:solidFill>
                <a:ea typeface="Cambria" pitchFamily="34" charset="-122"/>
                <a:cs typeface="Arial" panose="020B0604020202020204" pitchFamily="34" charset="0"/>
              </a:rPr>
              <a:t>~</a:t>
            </a:r>
            <a:r>
              <a:rPr lang="en-US" sz="3600" b="1" dirty="0">
                <a:solidFill>
                  <a:srgbClr val="02B39A"/>
                </a:solidFill>
                <a:ea typeface="Cambria" pitchFamily="34" charset="-122"/>
                <a:cs typeface="Arial" panose="020B0604020202020204" pitchFamily="34" charset="0"/>
              </a:rPr>
              <a:t>0,9</a:t>
            </a:r>
            <a:r>
              <a:rPr lang="pl-PL" sz="3600" b="1" dirty="0">
                <a:solidFill>
                  <a:srgbClr val="02B39A"/>
                </a:solidFill>
                <a:ea typeface="Cambria" pitchFamily="34" charset="-122"/>
                <a:cs typeface="Arial" panose="020B0604020202020204" pitchFamily="34" charset="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09921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</a:t>
            </a:r>
            <a:r>
              <a:rPr lang="pl-PL" sz="1400" baseline="30000" dirty="0">
                <a:solidFill>
                  <a:schemeClr val="bg1"/>
                </a:solidFill>
              </a:rPr>
              <a:t>2</a:t>
            </a:r>
            <a:r>
              <a:rPr lang="en-US" sz="135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 najlepszego modelu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98841" y="29032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B39A"/>
                </a:solidFill>
                <a:ea typeface="Cambria" pitchFamily="34" charset="-122"/>
                <a:cs typeface="Arial" panose="020B0604020202020204" pitchFamily="34" charset="0"/>
              </a:rPr>
              <a:t>7 342 zł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98841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średni błąd (LightGBM)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87761" y="29032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B39A"/>
                </a:solidFill>
                <a:ea typeface="Cambria" pitchFamily="34" charset="-122"/>
                <a:cs typeface="Arial" panose="020B0604020202020204" pitchFamily="34" charset="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87761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potoki Kedro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076681" y="29032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B39A"/>
                </a:solidFill>
                <a:ea typeface="Cambria" pitchFamily="34" charset="-122"/>
                <a:cs typeface="Arial" panose="020B0604020202020204" pitchFamily="34" charset="0"/>
              </a:rPr>
              <a:t>21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076681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testów + CI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ea typeface="Consolas" pitchFamily="34" charset="-122"/>
                <a:cs typeface="Arial" panose="020B0604020202020204" pitchFamily="34" charset="0"/>
              </a:rPr>
              <a:t>Demo: kedro run - mlflow </a:t>
            </a:r>
            <a:r>
              <a:rPr lang="en-US" sz="1400" dirty="0" err="1">
                <a:solidFill>
                  <a:srgbClr val="FFFFFF"/>
                </a:solidFill>
                <a:ea typeface="Consolas" pitchFamily="34" charset="-122"/>
                <a:cs typeface="Arial" panose="020B0604020202020204" pitchFamily="34" charset="0"/>
              </a:rPr>
              <a:t>ui</a:t>
            </a:r>
            <a:r>
              <a:rPr lang="en-US" sz="1400" dirty="0">
                <a:solidFill>
                  <a:srgbClr val="FFFFFF"/>
                </a:solidFill>
                <a:ea typeface="Consolas" pitchFamily="34" charset="-122"/>
                <a:cs typeface="Arial" panose="020B0604020202020204" pitchFamily="34" charset="0"/>
              </a:rPr>
              <a:t> - uvicorn </a:t>
            </a:r>
            <a:r>
              <a:rPr lang="en-US" sz="1400" dirty="0" err="1">
                <a:solidFill>
                  <a:srgbClr val="FFFFFF"/>
                </a:solidFill>
                <a:ea typeface="Consolas" pitchFamily="34" charset="-122"/>
                <a:cs typeface="Arial" panose="020B0604020202020204" pitchFamily="34" charset="0"/>
              </a:rPr>
              <a:t>api.main:app</a:t>
            </a:r>
            <a:r>
              <a:rPr lang="en-US" sz="1400" dirty="0">
                <a:solidFill>
                  <a:srgbClr val="FFFFFF"/>
                </a:solidFill>
                <a:ea typeface="Consolas" pitchFamily="34" charset="-122"/>
                <a:cs typeface="Arial" panose="020B0604020202020204" pitchFamily="34" charset="0"/>
              </a:rPr>
              <a:t>  </a:t>
            </a:r>
            <a:r>
              <a:rPr lang="pl-PL" sz="1400" dirty="0">
                <a:solidFill>
                  <a:srgbClr val="FFFFFF"/>
                </a:solidFill>
                <a:ea typeface="Consolas" pitchFamily="34" charset="-122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FFFFFF"/>
                </a:solidFill>
                <a:ea typeface="Consolas" pitchFamily="34" charset="-122"/>
                <a:cs typeface="Arial" panose="020B0604020202020204" pitchFamily="34" charset="0"/>
              </a:rPr>
              <a:t>  POST /predict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Autorzy: </a:t>
            </a:r>
            <a:r>
              <a:rPr lang="en-US" sz="150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Jakub Melzacki (s27664)</a:t>
            </a:r>
            <a:r>
              <a:rPr lang="pl-PL" sz="150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500" dirty="0">
                <a:solidFill>
                  <a:srgbClr val="C7D3E3"/>
                </a:solidFill>
                <a:ea typeface="Calibri" pitchFamily="34" charset="-122"/>
                <a:cs typeface="Calibri" pitchFamily="34" charset="-120"/>
              </a:rPr>
              <a:t>Kacper Barański (s28166)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F"/>
                </a:solidFill>
                <a:ea typeface="Calibri" pitchFamily="34" charset="-122"/>
                <a:cs typeface="Calibri" pitchFamily="34" charset="-120"/>
              </a:rPr>
              <a:t>Dziękujemy za uwagę.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864</Words>
  <Application>Microsoft Office PowerPoint</Application>
  <PresentationFormat>Widescreen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 Car Price — predykcja ceny samochodu</dc:title>
  <dc:subject>PptxGenJS Presentation</dc:subject>
  <dc:creator>Kacper Barański (s28166), Jakub Melzacki (s27664)</dc:creator>
  <cp:lastModifiedBy>Kacper Barański</cp:lastModifiedBy>
  <cp:revision>10</cp:revision>
  <dcterms:created xsi:type="dcterms:W3CDTF">2026-06-25T15:09:10Z</dcterms:created>
  <dcterms:modified xsi:type="dcterms:W3CDTF">2026-06-25T16:14:44Z</dcterms:modified>
</cp:coreProperties>
</file>